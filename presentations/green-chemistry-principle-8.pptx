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іріспе" id="{126e5213-be0d-5f93-1b34-590ecb4877a9}">
          <p14:sldIdLst>
            <p14:sldId id="256"/>
            <p14:sldId id="257"/>
            <p14:sldId id="258"/>
            <p14:sldId id="259"/>
          </p14:sldIdLst>
        </p14:section>
        <p14:section name="Мысалдар" id="{431a8429-cf74-b1c5-866a-557b04671093}">
          <p14:sldIdLst>
            <p14:sldId id="260"/>
            <p14:sldId id="261"/>
          </p14:sldIdLst>
        </p14:section>
        <p14:section name="Әлем" id="{c84689b6-e55c-a930-347b-7565cce1acef}">
          <p14:sldIdLst>
            <p14:sldId id="262"/>
            <p14:sldId id="263"/>
            <p14:sldId id="264"/>
            <p14:sldId id="265"/>
          </p14:sldIdLst>
        </p14:section>
        <p14:section name="Қазақстан" id="{2a7242c6-b4ef-bcbd-c5b4-57f20e5f937f}">
          <p14:sldIdLst>
            <p14:sldId id="266"/>
            <p14:sldId id="267"/>
            <p14:sldId id="268"/>
            <p14:sldId id="269"/>
          </p14:sldIdLst>
        </p14:section>
        <p14:section name="Қорытынды" id="{62e9f8a7-043b-1a07-426c-f9f81e2c00ae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Жасыл химияның 12 принципінің ішінен тек 8-ші принципке тоқталамыз. Принцип Анастас пен Уорнердің 1998 жылғы кітабынан алынған.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Мәтін Anastas &amp; Warner (1998) принципінің мағынасы бойынша аудармасы. Қорғау тобы — молекуланың бір бөлігін реакциядан уақытша жасыратын топ. Ол кейін міндетті түрде алынады, сондықтан кемінде екі қосымша саты қосылады.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Қорғау топтары онжылдықтар бойы стандартты құрал болды. Жасыл химия тұжырымдамасы пайда болғаннан кейін олар қалдықтың көзі ретінде қарастырыла бастады. 2009 жылғы шолу: Newhouse, Baran, Hoffmann (Chem. Soc. Rev.).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25–100 кг қалдық/1 кг өнім — 6–8 сатылы органикалық синтездегі фармацевтика үшін Шелдон бағасы (E-фактор).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6-APA — жартылай синтетикалық пенициллиндердің (амоксициллин, ампициллин) негізі. Бірінші өнеркәсіптік синтез: пенициллин G силил эфирі ретінде қорғалып, PCl5-пен −40 °C-та хлоримидатқа айналып, гидролизденген. Иммобилизацияланған пенициллинацилаза 1995 жылдан өнеркәсіпте қолданылады.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Симвастатин — холестеринді төмендететін дәрі. Дәстүрлі жолдарда ловастатин гидроксилдері қорғалған (силилдеу), немесе қышқыл мен спирт қорғалып, C2' метилйодидпен метилденген. Қоспа шығымы 70%-дан төмен болған. Тұрмыстық мысал — ұқсастық, химиялық дерек емес.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Принцип 8 көбіне жалғыз себеп емес — көп сатылы синтездің жалпы проблемасы. Таксол жағдайында негізгі мәселе шикізат тапшылығы болды; принципке қатысы жанама (сатыларды қысқарту, шикізатты ауыстыру). Дерек: EPA 2004/2012, Phyton Biotech, Frontiers Bioeng. Biotechnol. 2022.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25–100: Sheldon, E-фактор (Green Chem. 2017). 71 000 фунт ≈ 32 т: BMS PCF алғашқы 5 жылда (EPA 2004). 25 000 есе: Merck/Codexis ситаглиптин трансаминазасы (EPA 2010).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Ситаглиптин (Januvia): трансаминаза родий катализаторын ауыстырды (EPA 2010). Симвастатин: 9 раунд эволюция, 216 кітапхана, 61 779 нұсқа скрининг (EPA 2012). Таксол: BMS plant cell fermentation (EPA 2004).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ACS GCI Pharmaceutical Roundtable 2005 жылы құрылған, 43 мүше компания; 2007 жылдан гранттарға 3,5 млн доллардан астам жұмсаған, соның ішінде «Enzyme-mediated protecting group chemistry» жобасы бар. EPA Presidential Green Chemistry Challenge сыйлықтары — жыл сайынғы бағдарлама.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Қазақстанда тек 8-принципті бұзудан болған құжатталған апат жоқ — бұл байланысты тәуекелдер, біздің талдау. Деректер: inform.kz, finance.kz (локализация), informburo.kz (дәрі қалдығы), santo.kz (Химфарм).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Арглабин: Artemisia glabella-дан, Қарағанды «Фитохимия» холдингі; арглабин-диметиламин гидрохлориді — суда еритін туынды (диметиламинді қосу + HCl тұзы). Мұнда туынды қажетті: принцип «қажетсіз» дериватизацияны азайтуды айтады. Сантонин зауыты 1882 ж.: santo.kz.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Бұл ұсыныстар жалпы: 8-принцип өндірістік химияға қатысты, ал жеке адам дәрі қалдығы мен ақпараттылық арқылы әсер етеді. Алматыдағы қабылдау пункттері — 36 емхана (2025). Басқа қалалар бойынша ақпаратты жергілікті денсаулық сақтау басқармасынан тексеріңіз.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Жасыл химияның 8-принципіне арналған бөлек бағдарлама жоқ, мұнда жалпы экологиялық бағыттар. Деректер: UNDP Kazakhstan, Environmental Code (conventuslaw, IEA), gov.kz, bizmedia.kz, finance.kz.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Дереккөздердің толық тізімі: acs.org/green-chemistry-sustainability; epa.gov Presidential Green Chemistry Challenge 2004/2010/2012; phytonbiotech.com; frontiersin.org (10.3389/fbioe.2022.936487); pubs.rsc.org (c6gc02157c); acsgcipr.org; undp.org/kazakhstan; iea.org/policies/12917; santo.kz; gov.kz; informburo.kz; inform.kz; finance.kz; bizmedia.kz.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Жасыл химияның 8-принципі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Туындыларды азайту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290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Reduce derivatives: қажетсіз қорғау топтары — қосымша қалдықтың көзі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97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Орындаған: Нұржанқызы Айкерім</a:t>
            </a:r>
            <a:endParaRPr lang="en-US" sz="1600" dirty="0"/>
          </a:p>
        </p:txBody>
      </p:sp>
      <p:sp>
        <p:nvSpPr>
          <p:cNvPr id="6" name="circle"/>
          <p:cNvSpPr/>
          <p:nvPr/>
        </p:nvSpPr>
        <p:spPr>
          <a:xfrm>
            <a:off x="5943600" y="822960"/>
            <a:ext cx="2377440" cy="2377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0" y="8229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000" dirty="0"/>
          </a:p>
        </p:txBody>
      </p:sp>
      <p:sp>
        <p:nvSpPr>
          <p:cNvPr id="8" name="circle"/>
          <p:cNvSpPr/>
          <p:nvPr/>
        </p:nvSpPr>
        <p:spPr>
          <a:xfrm>
            <a:off x="7955280" y="54864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0" y="548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0" name="circle"/>
          <p:cNvSpPr/>
          <p:nvPr/>
        </p:nvSpPr>
        <p:spPr>
          <a:xfrm>
            <a:off x="5669280" y="31089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0" y="3108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2" name="circle"/>
          <p:cNvSpPr/>
          <p:nvPr/>
        </p:nvSpPr>
        <p:spPr>
          <a:xfrm>
            <a:off x="7589520" y="3383280"/>
            <a:ext cx="1005840" cy="10058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0" y="3383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 0"/>
          <p:cNvSpPr/>
          <p:nvPr>
            <p:ph idx="100" type="title" hasCustomPrompt="1"/>
          </p:nvPr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Принцип 8 не дейді?</a:t>
            </a:r>
            <a:endParaRPr lang="en-US" sz="3000" dirty="0"/>
          </a:p>
        </p:txBody>
      </p:sp>
      <p:sp>
        <p:nvSpPr>
          <p:cNvPr id="4" name="quote"/>
          <p:cNvSpPr/>
          <p:nvPr/>
        </p:nvSpPr>
        <p:spPr>
          <a:xfrm>
            <a:off x="457200" y="1143000"/>
            <a:ext cx="822960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85800" y="123444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«Қажетсіз дериватизацияны </a:t>
            </a:r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(блоктаушы топтар, қорғау және қорғауды алу, физикалық-химиялық процестерді уақытша өзгерту)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барынша азайту немесе болдырмау керек: мұндай сатылар қосымша реагент талап етеді және қалдық түзеді».</a:t>
            </a:r>
            <a:endParaRPr lang="en-US" sz="1500" dirty="0"/>
          </a:p>
        </p:txBody>
      </p:sp>
      <p:sp>
        <p:nvSpPr>
          <p:cNvPr id="6" name="step"/>
          <p:cNvSpPr/>
          <p:nvPr/>
        </p:nvSpPr>
        <p:spPr>
          <a:xfrm>
            <a:off x="457200" y="2788920"/>
            <a:ext cx="1280160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457200" y="27889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Бастапқы зат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810512" y="3044952"/>
            <a:ext cx="310896" cy="310896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step"/>
          <p:cNvSpPr/>
          <p:nvPr/>
        </p:nvSpPr>
        <p:spPr>
          <a:xfrm>
            <a:off x="2194560" y="2788920"/>
            <a:ext cx="1280160" cy="82296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2194560" y="27889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1. Қорғау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547872" y="3044952"/>
            <a:ext cx="310896" cy="310896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step"/>
          <p:cNvSpPr/>
          <p:nvPr/>
        </p:nvSpPr>
        <p:spPr>
          <a:xfrm>
            <a:off x="3931920" y="2788920"/>
            <a:ext cx="1280160" cy="82296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931920" y="27889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2. Негізгі реакция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285232" y="3044952"/>
            <a:ext cx="310896" cy="310896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step"/>
          <p:cNvSpPr/>
          <p:nvPr/>
        </p:nvSpPr>
        <p:spPr>
          <a:xfrm>
            <a:off x="5669280" y="2788920"/>
            <a:ext cx="1280160" cy="82296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5669280" y="27889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3. Қорғауды алу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022592" y="3044952"/>
            <a:ext cx="310896" cy="310896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step"/>
          <p:cNvSpPr/>
          <p:nvPr/>
        </p:nvSpPr>
        <p:spPr>
          <a:xfrm>
            <a:off x="7406640" y="2788920"/>
            <a:ext cx="1280160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406640" y="27889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Өнім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Сатылар 1 және 3 өнімге кірмейді: олар тек қосымша реагент, еріткіш, энергия мен қалдық қосады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Принциптің тарихы</a:t>
            </a:r>
            <a:endParaRPr lang="en-US" sz="3000" dirty="0"/>
          </a:p>
        </p:txBody>
      </p:sp>
      <p:sp>
        <p:nvSpPr>
          <p:cNvPr id="4" name="year"/>
          <p:cNvSpPr/>
          <p:nvPr/>
        </p:nvSpPr>
        <p:spPr>
          <a:xfrm>
            <a:off x="457200" y="1188720"/>
            <a:ext cx="960120" cy="438912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457200" y="1188720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1143000"/>
            <a:ext cx="7040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Т. Грин «Protective Groups in Organic Synthesis» кітабы: қорғау топтары химиктің күнделікті құралына айналды</a:t>
            </a:r>
            <a:endParaRPr lang="en-US" sz="1400" dirty="0"/>
          </a:p>
        </p:txBody>
      </p:sp>
      <p:sp>
        <p:nvSpPr>
          <p:cNvPr id="7" name="year"/>
          <p:cNvSpPr/>
          <p:nvPr/>
        </p:nvSpPr>
        <p:spPr>
          <a:xfrm>
            <a:off x="457200" y="1773936"/>
            <a:ext cx="960120" cy="438912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57200" y="1773936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1728216"/>
            <a:ext cx="7040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Б. Трост «атом экономикасы» ұғымын ұсынды; П. Анастас АҚШ EPA-да «жасыл химия» терминін енгізді</a:t>
            </a:r>
            <a:endParaRPr lang="en-US" sz="1400" dirty="0"/>
          </a:p>
        </p:txBody>
      </p:sp>
      <p:sp>
        <p:nvSpPr>
          <p:cNvPr id="10" name="year"/>
          <p:cNvSpPr/>
          <p:nvPr/>
        </p:nvSpPr>
        <p:spPr>
          <a:xfrm>
            <a:off x="457200" y="2359152"/>
            <a:ext cx="960120" cy="438912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57200" y="2359152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1998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2313432"/>
            <a:ext cx="7040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Анастас пен Уорнердің «Green Chemistry: Theory and Practice» кітабы: 12 принцип, 8-і — «Reduce derivatives»</a:t>
            </a:r>
            <a:endParaRPr lang="en-US" sz="1400" dirty="0"/>
          </a:p>
        </p:txBody>
      </p:sp>
      <p:sp>
        <p:nvSpPr>
          <p:cNvPr id="13" name="year"/>
          <p:cNvSpPr/>
          <p:nvPr/>
        </p:nvSpPr>
        <p:spPr>
          <a:xfrm>
            <a:off x="457200" y="2944368"/>
            <a:ext cx="960120" cy="438912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457200" y="2944368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2006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645920" y="2898648"/>
            <a:ext cx="7040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Р. Хоффманн «Protecting-group-free synthesis» шолуы: қорғау топтарынсыз синтез — жеке бағыт</a:t>
            </a:r>
            <a:endParaRPr lang="en-US" sz="1400" dirty="0"/>
          </a:p>
        </p:txBody>
      </p:sp>
      <p:sp>
        <p:nvSpPr>
          <p:cNvPr id="16" name="year"/>
          <p:cNvSpPr/>
          <p:nvPr/>
        </p:nvSpPr>
        <p:spPr>
          <a:xfrm>
            <a:off x="457200" y="3529584"/>
            <a:ext cx="960120" cy="438912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57200" y="3529584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2009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645920" y="3483864"/>
            <a:ext cx="7040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Ньюхаус, Баран, Хоффманн: атом, саты және тотығу-тотықсыздану экономикасы — тиімді синтездің өлшемдері</a:t>
            </a:r>
            <a:endParaRPr lang="en-US" sz="1400" dirty="0"/>
          </a:p>
        </p:txBody>
      </p:sp>
      <p:sp>
        <p:nvSpPr>
          <p:cNvPr id="19" name="year"/>
          <p:cNvSpPr/>
          <p:nvPr/>
        </p:nvSpPr>
        <p:spPr>
          <a:xfrm>
            <a:off x="457200" y="4114800"/>
            <a:ext cx="960120" cy="438912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457200" y="4114800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2010–12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645920" y="4069080"/>
            <a:ext cx="7040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EPA жасыл химия сыйлықтары: Merck/Codexis (ситаглиптин, 2010), Codexis/UCLA (симвастатин, 2012)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Өзектілігі, маңыздылығы, мақсаты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188720"/>
            <a:ext cx="2560320" cy="32918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circle"/>
          <p:cNvSpPr/>
          <p:nvPr/>
        </p:nvSpPr>
        <p:spPr>
          <a:xfrm>
            <a:off x="685800" y="14173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Өзектілігі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65176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Фармацияда 1 кг дәрі заты үшін 25–100 кг қалдық түзіледі (6–8 сатылы синтез). Сатылар көп болған сайын қалдық көп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3291840" y="1188720"/>
            <a:ext cx="2560320" cy="32918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circle"/>
          <p:cNvSpPr/>
          <p:nvPr/>
        </p:nvSpPr>
        <p:spPr>
          <a:xfrm>
            <a:off x="3520440" y="14173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2044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352044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Маңыздылығы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520440" y="265176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Әр қорғау және қорғауды алу сатысы — қосымша реагент, еріткіш, энергия және шығын. Әр сатыда өнім шығымы азаяды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6126480" y="1188720"/>
            <a:ext cx="2560320" cy="32918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circle"/>
          <p:cNvSpPr/>
          <p:nvPr/>
        </p:nvSpPr>
        <p:spPr>
          <a:xfrm>
            <a:off x="6355080" y="141732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5508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635508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Мақсаты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355080" y="265176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Сатыларды қысқарту: селективті катализаторлар мен ферменттерді қолданып, қорғау топтарынсыз синтездеу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Мысал 1: пенициллин → 6-APA</a:t>
            </a:r>
            <a:endParaRPr lang="en-US" sz="3000" dirty="0"/>
          </a:p>
        </p:txBody>
      </p:sp>
      <p:sp>
        <p:nvSpPr>
          <p:cNvPr id="4" name="left"/>
          <p:cNvSpPr/>
          <p:nvPr/>
        </p:nvSpPr>
        <p:spPr>
          <a:xfrm>
            <a:off x="457200" y="1188720"/>
            <a:ext cx="393192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right"/>
          <p:cNvSpPr/>
          <p:nvPr/>
        </p:nvSpPr>
        <p:spPr>
          <a:xfrm>
            <a:off x="4754880" y="1188720"/>
            <a:ext cx="393192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8580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Классикалық жол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7452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Пенициллин G-ны силил эфирі түрінде қорғау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PCl₅ қосу, −40 °C салқындату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Хлоримидат түзу, одан кейін гидролиз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Агрессивті реагенттер, көп қалдық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98348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Ферментативті жол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4983480" y="187452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Пенициллинацилаза ферменті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Су ортасы, бөлме температурасынан сәл жоғары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Қорғау тобы қажет емес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Иммобилизацияланған фермент 1995 жылдан өнеркәсіпте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Мысал 2: симвастатин және тұрмыс</a:t>
            </a:r>
            <a:endParaRPr lang="en-US" sz="3000" dirty="0"/>
          </a:p>
        </p:txBody>
      </p:sp>
      <p:sp>
        <p:nvSpPr>
          <p:cNvPr id="4" name="left"/>
          <p:cNvSpPr/>
          <p:nvPr/>
        </p:nvSpPr>
        <p:spPr>
          <a:xfrm>
            <a:off x="457200" y="1188720"/>
            <a:ext cx="484632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85800" y="13258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Симвастатин (өндіріс)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28800"/>
            <a:ext cx="4389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Дәстүрлі: қорғау → метилдеу (метилйодид) → қорғауды алу, шығымы 70%-дан төмен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Жаңа: LovD ферменті жан-жағын қорғамай, бір сатыда қосады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2012: EPA «Greener Synthetic Pathways» сыйлығы (Codexis, UCLA)</a:t>
            </a:r>
            <a:endParaRPr lang="en-US" sz="1400" dirty="0"/>
          </a:p>
        </p:txBody>
      </p:sp>
      <p:sp>
        <p:nvSpPr>
          <p:cNvPr id="7" name="right"/>
          <p:cNvSpPr/>
          <p:nvPr/>
        </p:nvSpPr>
        <p:spPr>
          <a:xfrm>
            <a:off x="5577840" y="1188720"/>
            <a:ext cx="3108960" cy="3291840"/>
          </a:xfrm>
          <a:prstGeom prst="roundRect">
            <a:avLst>
              <a:gd name="adj" fmla="val 35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80644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Тұрмыстағы ұқсастық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806440" y="1828800"/>
            <a:ext cx="2743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Берік ыдысты қонаққа апарарда үш қабат орап, барған соң қайта ашасыз. Орауыштың бәрі — қоқыс.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Қорғау тобы да осындай: ыдыс сынбайтын болса, орау қажет емес.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Әлем: 3 тарихи мәселе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14300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circle"/>
          <p:cNvSpPr/>
          <p:nvPr/>
        </p:nvSpPr>
        <p:spPr>
          <a:xfrm>
            <a:off x="685800" y="12801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745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Антибиотиктер (6-APA)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51460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−40 °C, PCl₅, силилдеу. Көбіне ферментпен ауыстырылды, бірақ амоксициллиннің кейбір химиялық жолдары әлі қорғау сатыларын қолданады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3291840" y="114300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circle"/>
          <p:cNvSpPr/>
          <p:nvPr/>
        </p:nvSpPr>
        <p:spPr>
          <a:xfrm>
            <a:off x="3520440" y="1280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2044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520440" y="18745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Симвастатин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3520440" y="251460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Қорғау, метилйодид, қорғауды алу. Шығымы 70%-дан төмен, көп қауіпті реагент. Статиндер миллиондаған адам қолданатын дәрі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6126480" y="114300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circle"/>
          <p:cNvSpPr/>
          <p:nvPr/>
        </p:nvSpPr>
        <p:spPr>
          <a:xfrm>
            <a:off x="6355080" y="128016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5508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355080" y="18745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Таксол (паклитаксел)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6355080" y="251460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Тис қабығында тек 0,0004% затты алу үшін ағаш қырылған. Қазір өсімдік жасушаларын ферментациялау қолданылады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2062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Ескерту: принцип 8 бұл жағдайлардың жалғыз себебі емес, көп сатылы синтездің жалпы мәселесінің бір бөлігі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Әлемдегі пайдасы: сандармен</a:t>
            </a:r>
            <a:endParaRPr lang="en-US" sz="3000" dirty="0"/>
          </a:p>
        </p:txBody>
      </p:sp>
      <p:sp>
        <p:nvSpPr>
          <p:cNvPr id="4" name="stat"/>
          <p:cNvSpPr/>
          <p:nvPr/>
        </p:nvSpPr>
        <p:spPr>
          <a:xfrm>
            <a:off x="457200" y="1188720"/>
            <a:ext cx="39319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85800" y="129844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25–100 кг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9659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қалдық 1 кг дәрі затына (дәстүрлі 6–8 сатылы синтез)</a:t>
            </a:r>
            <a:endParaRPr lang="en-US" sz="1400" dirty="0"/>
          </a:p>
        </p:txBody>
      </p:sp>
      <p:sp>
        <p:nvSpPr>
          <p:cNvPr id="7" name="stat"/>
          <p:cNvSpPr/>
          <p:nvPr/>
        </p:nvSpPr>
        <p:spPr>
          <a:xfrm>
            <a:off x="4663440" y="1188720"/>
            <a:ext cx="39319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892040" y="129844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≈32 тонна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4892040" y="19659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қауіпті химиялық зат жоқ болды: Таксол процесінің алғашқы 5 жылында (71 000 фунт)</a:t>
            </a:r>
            <a:endParaRPr lang="en-US" sz="1400" dirty="0"/>
          </a:p>
        </p:txBody>
      </p:sp>
      <p:sp>
        <p:nvSpPr>
          <p:cNvPr id="10" name="stat"/>
          <p:cNvSpPr/>
          <p:nvPr/>
        </p:nvSpPr>
        <p:spPr>
          <a:xfrm>
            <a:off x="457200" y="2926080"/>
            <a:ext cx="39319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85800" y="303580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еріткіш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37033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және 6 кептіру сатысы алынып тасталды (сол процесте)</a:t>
            </a:r>
            <a:endParaRPr lang="en-US" sz="1400" dirty="0"/>
          </a:p>
        </p:txBody>
      </p:sp>
      <p:sp>
        <p:nvSpPr>
          <p:cNvPr id="13" name="stat"/>
          <p:cNvSpPr/>
          <p:nvPr/>
        </p:nvSpPr>
        <p:spPr>
          <a:xfrm>
            <a:off x="4663440" y="2926080"/>
            <a:ext cx="39319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4892040" y="303580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25 000 есе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4892040" y="37033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ситаглиптин ферментінің белсенділігі арттырылды, металл катализатор қажет болмады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Әлемдегі жобалар</a:t>
            </a:r>
            <a:endParaRPr lang="en-US" sz="3000" dirty="0"/>
          </a:p>
        </p:txBody>
      </p:sp>
      <p:sp>
        <p:nvSpPr>
          <p:cNvPr id="4" name="proj"/>
          <p:cNvSpPr/>
          <p:nvPr/>
        </p:nvSpPr>
        <p:spPr>
          <a:xfrm>
            <a:off x="457200" y="1188720"/>
            <a:ext cx="39319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85800" y="12984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Ситаглиптин, Merck + Codexis (2010)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288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Эволюцияланған трансаминаза металл (родий) катализаторын ауыстырды, қалдық азайды</a:t>
            </a:r>
            <a:endParaRPr lang="en-US" sz="1400" dirty="0"/>
          </a:p>
        </p:txBody>
      </p:sp>
      <p:sp>
        <p:nvSpPr>
          <p:cNvPr id="7" name="proj"/>
          <p:cNvSpPr/>
          <p:nvPr/>
        </p:nvSpPr>
        <p:spPr>
          <a:xfrm>
            <a:off x="4663440" y="1188720"/>
            <a:ext cx="39319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892040" y="12984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Симвастатин, Codexis + UCLA (2012)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892040" y="18288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LovD ферменті 9 раунд эволюциядан өтті, қосалқы өнім қайта өңделеді</a:t>
            </a:r>
            <a:endParaRPr lang="en-US" sz="1400" dirty="0"/>
          </a:p>
        </p:txBody>
      </p:sp>
      <p:sp>
        <p:nvSpPr>
          <p:cNvPr id="10" name="proj"/>
          <p:cNvSpPr/>
          <p:nvPr/>
        </p:nvSpPr>
        <p:spPr>
          <a:xfrm>
            <a:off x="457200" y="2926080"/>
            <a:ext cx="39319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85800" y="303580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Таксол, Bristol-Myers Squibb (2004)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356616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Өсімдік жасушаларын ферментациялау: алғашқы 5 жылда 71 000 фунт қауіпті зат жоқ болды</a:t>
            </a:r>
            <a:endParaRPr lang="en-US" sz="1400" dirty="0"/>
          </a:p>
        </p:txBody>
      </p:sp>
      <p:sp>
        <p:nvSpPr>
          <p:cNvPr id="13" name="proj"/>
          <p:cNvSpPr/>
          <p:nvPr/>
        </p:nvSpPr>
        <p:spPr>
          <a:xfrm>
            <a:off x="4663440" y="2926080"/>
            <a:ext cx="39319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4892040" y="303580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Қорғау топтарынсыз синтез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892040" y="356616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Хоффманн, Баран және т.б.: күрделі молекулаларды қорғау топтарынсыз, аз сатымен алу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Әлем не істеп жатыр?</a:t>
            </a:r>
            <a:endParaRPr lang="en-US" sz="3000" dirty="0"/>
          </a:p>
        </p:txBody>
      </p:sp>
      <p:sp>
        <p:nvSpPr>
          <p:cNvPr id="4" name="row"/>
          <p:cNvSpPr/>
          <p:nvPr/>
        </p:nvSpPr>
        <p:spPr>
          <a:xfrm>
            <a:off x="457200" y="1188720"/>
            <a:ext cx="82296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circle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2618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ACS GCI Pharmaceutical Roundtable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591056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2005 жылы құрылған, 43 мүше компания. 2007 жылдан 3,5 млн доллардан астам грант, оның ішінде қорғау тобының ферментативті химиясы жобасы</a:t>
            </a:r>
            <a:endParaRPr lang="en-US" sz="1400" dirty="0"/>
          </a:p>
        </p:txBody>
      </p:sp>
      <p:sp>
        <p:nvSpPr>
          <p:cNvPr id="9" name="row"/>
          <p:cNvSpPr/>
          <p:nvPr/>
        </p:nvSpPr>
        <p:spPr>
          <a:xfrm>
            <a:off x="457200" y="2331720"/>
            <a:ext cx="82296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circle"/>
          <p:cNvSpPr/>
          <p:nvPr/>
        </p:nvSpPr>
        <p:spPr>
          <a:xfrm>
            <a:off x="640080" y="2560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24048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EPA жасыл химия сыйлықтары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417320" y="2734056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АҚШ-та жасыл синтездер сыйлықпен марапатталады: Таксол (2004), ситаглиптин (2010), симвастатин (2012)</a:t>
            </a:r>
            <a:endParaRPr lang="en-US" sz="1400" dirty="0"/>
          </a:p>
        </p:txBody>
      </p:sp>
      <p:sp>
        <p:nvSpPr>
          <p:cNvPr id="14" name="row"/>
          <p:cNvSpPr/>
          <p:nvPr/>
        </p:nvSpPr>
        <p:spPr>
          <a:xfrm>
            <a:off x="457200" y="3474720"/>
            <a:ext cx="82296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circle"/>
          <p:cNvSpPr/>
          <p:nvPr/>
        </p:nvSpPr>
        <p:spPr>
          <a:xfrm>
            <a:off x="640080" y="3703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35478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Биокатализ нұсқаулықтары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877056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Фармацевтика компаниялары ферменттерді таңдау нұсқаулығын (Biocatalysis Guide) бірге жаңартады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Қазақстан: 3 мәселе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143000"/>
            <a:ext cx="2560320" cy="30175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circle"/>
          <p:cNvSpPr/>
          <p:nvPr/>
        </p:nvSpPr>
        <p:spPr>
          <a:xfrm>
            <a:off x="685800" y="12801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745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Импортқа тәуелділік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51460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Отандық өндірушілердің үлесі заттай 30%-дан асады, құндық түрде шамамен 14%. Субстанция синтезі көбіне шетелде: оның «жасыл» болуына әсер ету қиын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3291840" y="1143000"/>
            <a:ext cx="2560320" cy="30175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circle"/>
          <p:cNvSpPr/>
          <p:nvPr/>
        </p:nvSpPr>
        <p:spPr>
          <a:xfrm>
            <a:off x="3520440" y="1280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2044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520440" y="18745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Дәрі қалдықтары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3520440" y="251460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2024 жылы 1,46 млрд қаптама дәрі сатып алынды. Үйдегі дәріні кәдеге жарату нормасы заңмен реттелмеген, көбі қоқысқа немесе кәрізге түседі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6126480" y="1143000"/>
            <a:ext cx="2560320" cy="30175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circle"/>
          <p:cNvSpPr/>
          <p:nvPr/>
        </p:nvSpPr>
        <p:spPr>
          <a:xfrm>
            <a:off x="6355080" y="128016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5508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355080" y="18745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Антибиотик өндірісі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6355080" y="251460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Химфарм 2016 жылдан цефалоспорин және пенем ұнтақтарын шығарады. Бұл класс дәстүрлі түрде қорғау топтарымен алынған: субстанция жолын нақтылау қажет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2793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Ескерту: бұл құжатталған апаттар емес, 8-принципке байланысты тәуекелдер мен ашық сұрақтар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Қазақстандағы жобалар</a:t>
            </a:r>
            <a:endParaRPr lang="en-US" sz="3000" dirty="0"/>
          </a:p>
        </p:txBody>
      </p:sp>
      <p:sp>
        <p:nvSpPr>
          <p:cNvPr id="4" name="row"/>
          <p:cNvSpPr/>
          <p:nvPr/>
        </p:nvSpPr>
        <p:spPr>
          <a:xfrm>
            <a:off x="457200" y="1188720"/>
            <a:ext cx="82296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85800" y="126187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Арглабин (Қарағанды)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200400" y="1243584"/>
            <a:ext cx="5303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«Фитохимия» холдингі: Artemisia glabella-дан алынған арглабиннің суда еритін туындысы — қатерлі ісік емінде қолданылады, 70-тен астам жаңа туынды алынған. Мұнда туынды әдейі, қажетті мақсатпен жасалған</a:t>
            </a:r>
            <a:endParaRPr lang="en-US" sz="1300" dirty="0"/>
          </a:p>
        </p:txBody>
      </p:sp>
      <p:sp>
        <p:nvSpPr>
          <p:cNvPr id="7" name="row"/>
          <p:cNvSpPr/>
          <p:nvPr/>
        </p:nvSpPr>
        <p:spPr>
          <a:xfrm>
            <a:off x="457200" y="2331720"/>
            <a:ext cx="82296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85800" y="240487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Шымкент, Химфарм (1882)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3200400" y="2386584"/>
            <a:ext cx="5303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Сантонин зауытынан басталып, өсімдік шикізатынан субстанция шығарған. 2011 жылдан Polpharma тобында, 2016 жылдан антибиотик ұнтақтары</a:t>
            </a:r>
            <a:endParaRPr lang="en-US" sz="1300" dirty="0"/>
          </a:p>
        </p:txBody>
      </p:sp>
      <p:sp>
        <p:nvSpPr>
          <p:cNvPr id="10" name="row"/>
          <p:cNvSpPr/>
          <p:nvPr/>
        </p:nvSpPr>
        <p:spPr>
          <a:xfrm>
            <a:off x="457200" y="3474720"/>
            <a:ext cx="82296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85800" y="354787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Университеттер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3200400" y="3529584"/>
            <a:ext cx="5303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Әл-Фараби ҚазҰУ мен ЕНУ-да катализ, жасыл сутегі, каталитикалық гидрлеу бойынша зерттеулер. Жасыл химияға жалпы қатысты, 8-принципке жанама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Әр адам не істеуі қажет?</a:t>
            </a:r>
            <a:endParaRPr lang="en-US" sz="3000" dirty="0"/>
          </a:p>
        </p:txBody>
      </p:sp>
      <p:sp>
        <p:nvSpPr>
          <p:cNvPr id="4" name="row"/>
          <p:cNvSpPr/>
          <p:nvPr/>
        </p:nvSpPr>
        <p:spPr>
          <a:xfrm>
            <a:off x="457200" y="1143000"/>
            <a:ext cx="8229600" cy="594360"/>
          </a:xfrm>
          <a:prstGeom prst="roundRect">
            <a:avLst>
              <a:gd name="adj" fmla="val 184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circle"/>
          <p:cNvSpPr/>
          <p:nvPr/>
        </p:nvSpPr>
        <p:spPr>
          <a:xfrm>
            <a:off x="566928" y="121615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1216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1430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Керегінен артық дәрі сатып алмаңыз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114300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Артық дәрі — артық өндіріс пен артық қалдық</a:t>
            </a:r>
            <a:endParaRPr lang="en-US" sz="1300" dirty="0"/>
          </a:p>
        </p:txBody>
      </p:sp>
      <p:sp>
        <p:nvSpPr>
          <p:cNvPr id="9" name="row"/>
          <p:cNvSpPr/>
          <p:nvPr/>
        </p:nvSpPr>
        <p:spPr>
          <a:xfrm>
            <a:off x="457200" y="1847088"/>
            <a:ext cx="8229600" cy="594360"/>
          </a:xfrm>
          <a:prstGeom prst="roundRect">
            <a:avLst>
              <a:gd name="adj" fmla="val 184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circle"/>
          <p:cNvSpPr/>
          <p:nvPr/>
        </p:nvSpPr>
        <p:spPr>
          <a:xfrm>
            <a:off x="566928" y="19202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66928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184708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Мерзімі өткен дәріні тастамаңыз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1847088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Қоқысқа не кәрізге емес, қабылдау пунктіне (Алматыда 36 емхана)</a:t>
            </a:r>
            <a:endParaRPr lang="en-US" sz="1300" dirty="0"/>
          </a:p>
        </p:txBody>
      </p:sp>
      <p:sp>
        <p:nvSpPr>
          <p:cNvPr id="14" name="row"/>
          <p:cNvSpPr/>
          <p:nvPr/>
        </p:nvSpPr>
        <p:spPr>
          <a:xfrm>
            <a:off x="457200" y="2551176"/>
            <a:ext cx="8229600" cy="594360"/>
          </a:xfrm>
          <a:prstGeom prst="roundRect">
            <a:avLst>
              <a:gd name="adj" fmla="val 184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circle"/>
          <p:cNvSpPr/>
          <p:nvPr/>
        </p:nvSpPr>
        <p:spPr>
          <a:xfrm>
            <a:off x="566928" y="26243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66928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188720" y="255117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Зертханада сатыларды санаңыз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2551176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Қорғау сатысыз әдіс бар ма, қалдықты 1 кг өнімге есептеңіз</a:t>
            </a:r>
            <a:endParaRPr lang="en-US" sz="1300" dirty="0"/>
          </a:p>
        </p:txBody>
      </p:sp>
      <p:sp>
        <p:nvSpPr>
          <p:cNvPr id="19" name="row"/>
          <p:cNvSpPr/>
          <p:nvPr/>
        </p:nvSpPr>
        <p:spPr>
          <a:xfrm>
            <a:off x="457200" y="3255264"/>
            <a:ext cx="8229600" cy="594360"/>
          </a:xfrm>
          <a:prstGeom prst="roundRect">
            <a:avLst>
              <a:gd name="adj" fmla="val 184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circle"/>
          <p:cNvSpPr/>
          <p:nvPr/>
        </p:nvSpPr>
        <p:spPr>
          <a:xfrm>
            <a:off x="566928" y="332841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66928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188720" y="325526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Сұрақ қойыңыз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3255264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Өндірушіден процесс туралы, оқытушыдан «жасыл» балама туралы</a:t>
            </a:r>
            <a:endParaRPr lang="en-US" sz="1300" dirty="0"/>
          </a:p>
        </p:txBody>
      </p:sp>
      <p:sp>
        <p:nvSpPr>
          <p:cNvPr id="24" name="row"/>
          <p:cNvSpPr/>
          <p:nvPr/>
        </p:nvSpPr>
        <p:spPr>
          <a:xfrm>
            <a:off x="457200" y="3959352"/>
            <a:ext cx="8229600" cy="594360"/>
          </a:xfrm>
          <a:prstGeom prst="roundRect">
            <a:avLst>
              <a:gd name="adj" fmla="val 184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circle"/>
          <p:cNvSpPr/>
          <p:nvPr/>
        </p:nvSpPr>
        <p:spPr>
          <a:xfrm>
            <a:off x="566928" y="403250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6928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188720" y="395935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Ақпаратты таратыңыз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395935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Жасыл химия — әр саладағы мамандарға да қатысты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Қазақстан не істеп жатыр?</a:t>
            </a:r>
            <a:endParaRPr lang="en-US" sz="3000" dirty="0"/>
          </a:p>
        </p:txBody>
      </p:sp>
      <p:sp>
        <p:nvSpPr>
          <p:cNvPr id="4" name="year"/>
          <p:cNvSpPr/>
          <p:nvPr/>
        </p:nvSpPr>
        <p:spPr>
          <a:xfrm>
            <a:off x="457200" y="1143000"/>
            <a:ext cx="1143000" cy="594360"/>
          </a:xfrm>
          <a:prstGeom prst="roundRect">
            <a:avLst>
              <a:gd name="adj" fmla="val 1846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457200" y="114300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2013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828800" y="11430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«Жасыл экономикаға» көшу тұжырымдамасы (30 мамыр)</a:t>
            </a:r>
            <a:endParaRPr lang="en-US" sz="1600" dirty="0"/>
          </a:p>
        </p:txBody>
      </p:sp>
      <p:sp>
        <p:nvSpPr>
          <p:cNvPr id="7" name="year"/>
          <p:cNvSpPr/>
          <p:nvPr/>
        </p:nvSpPr>
        <p:spPr>
          <a:xfrm>
            <a:off x="457200" y="1847088"/>
            <a:ext cx="1143000" cy="594360"/>
          </a:xfrm>
          <a:prstGeom prst="roundRect">
            <a:avLst>
              <a:gd name="adj" fmla="val 1846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57200" y="1847088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1847088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Желтоқсан: 2060 жылға дейін көміртек бейтараптығына жету міндеті</a:t>
            </a:r>
            <a:endParaRPr lang="en-US" sz="1600" dirty="0"/>
          </a:p>
        </p:txBody>
      </p:sp>
      <p:sp>
        <p:nvSpPr>
          <p:cNvPr id="10" name="year"/>
          <p:cNvSpPr/>
          <p:nvPr/>
        </p:nvSpPr>
        <p:spPr>
          <a:xfrm>
            <a:off x="457200" y="2551176"/>
            <a:ext cx="1143000" cy="594360"/>
          </a:xfrm>
          <a:prstGeom prst="roundRect">
            <a:avLst>
              <a:gd name="adj" fmla="val 1846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57200" y="2551176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2021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828800" y="2551176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Экологиялық кодекс (1 шілдеден күшінде): ең үздік қолжетімді техникалар (ЕҚТ) енгізілді</a:t>
            </a:r>
            <a:endParaRPr lang="en-US" sz="1600" dirty="0"/>
          </a:p>
        </p:txBody>
      </p:sp>
      <p:sp>
        <p:nvSpPr>
          <p:cNvPr id="13" name="year"/>
          <p:cNvSpPr/>
          <p:nvPr/>
        </p:nvSpPr>
        <p:spPr>
          <a:xfrm>
            <a:off x="457200" y="3255264"/>
            <a:ext cx="1143000" cy="594360"/>
          </a:xfrm>
          <a:prstGeom prst="roundRect">
            <a:avLst>
              <a:gd name="adj" fmla="val 1846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457200" y="3255264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828800" y="3255264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Алматыда 36 емханада мерзімі өткен дәрі қабылдау пункттері ашылды</a:t>
            </a:r>
            <a:endParaRPr lang="en-US" sz="1600" dirty="0"/>
          </a:p>
        </p:txBody>
      </p:sp>
      <p:sp>
        <p:nvSpPr>
          <p:cNvPr id="16" name="year"/>
          <p:cNvSpPr/>
          <p:nvPr/>
        </p:nvSpPr>
        <p:spPr>
          <a:xfrm>
            <a:off x="457200" y="3959352"/>
            <a:ext cx="1143000" cy="594360"/>
          </a:xfrm>
          <a:prstGeom prst="roundRect">
            <a:avLst>
              <a:gd name="adj" fmla="val 1846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57200" y="3959352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Бүгін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828800" y="3959352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6 инвестициялық келісім, 316 млрд теңге, Химфарм қоса: ~400 дәрі, 1 100 жұмыс орны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Қорытынды</a:t>
            </a:r>
            <a:endParaRPr lang="en-US" sz="3000" dirty="0"/>
          </a:p>
        </p:txBody>
      </p:sp>
      <p:sp>
        <p:nvSpPr>
          <p:cNvPr id="3" name="circle"/>
          <p:cNvSpPr/>
          <p:nvPr/>
        </p:nvSpPr>
        <p:spPr>
          <a:xfrm>
            <a:off x="457200" y="123444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2344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Қорғау тобы — уақытша құрал, ал қалдығы тұрақты</a:t>
            </a:r>
            <a:endParaRPr lang="en-US" sz="1800" dirty="0"/>
          </a:p>
        </p:txBody>
      </p:sp>
      <p:sp>
        <p:nvSpPr>
          <p:cNvPr id="6" name="circle"/>
          <p:cNvSpPr/>
          <p:nvPr/>
        </p:nvSpPr>
        <p:spPr>
          <a:xfrm>
            <a:off x="457200" y="201168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0116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Ферменттер мен селективті катализ сатыларды қысқартады</a:t>
            </a:r>
            <a:endParaRPr lang="en-US" sz="1800" dirty="0"/>
          </a:p>
        </p:txBody>
      </p:sp>
      <p:sp>
        <p:nvSpPr>
          <p:cNvPr id="9" name="circle"/>
          <p:cNvSpPr/>
          <p:nvPr/>
        </p:nvSpPr>
        <p:spPr>
          <a:xfrm>
            <a:off x="457200" y="278892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7889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Әлем ферментативті жолға көшіп жатыр, Қазақстанда бастамалар бар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Дереккөздер: acs.org (12 принцип); US EPA Green Chemistry Challenge 2004, 2010, 2012; Phyton Biotech; Frontiers in Bioeng. Biotechnol. 2022; Green Chem. 2017 (E-фактор); Hoffmann, Synthesis 2006; acsgcipr.org; UNDP Kazakhstan; Environmental Code (IEA, Conventus Law); santo.kz; inform.kz; informburo.kz; gov.kz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eenChem">
  <a:themeElements>
    <a:clrScheme name="GreenChem">
      <a:dk1>
        <a:srgbClr val="0B3D2E"/>
      </a:dk1>
      <a:lt1>
        <a:srgbClr val="FFFFFF"/>
      </a:lt1>
      <a:dk2>
        <a:srgbClr val="1F6B4F"/>
      </a:dk2>
      <a:lt2>
        <a:srgbClr val="E9F3EC"/>
      </a:lt2>
      <a:accent1>
        <a:srgbClr val="2E9E6B"/>
      </a:accent1>
      <a:accent2>
        <a:srgbClr val="E8743B"/>
      </a:accent2>
      <a:accent3>
        <a:srgbClr val="F2B84B"/>
      </a:accent3>
      <a:accent4>
        <a:srgbClr val="3A7CA5"/>
      </a:accent4>
      <a:accent5>
        <a:srgbClr val="7BC47F"/>
      </a:accent5>
      <a:accent6>
        <a:srgbClr val="8A5A44"/>
      </a:accent6>
      <a:hlink>
        <a:srgbClr val="2E9E6B"/>
      </a:hlink>
      <a:folHlink>
        <a:srgbClr val="1F6B4F"/>
      </a:folHlink>
    </a:clrScheme>
    <a:fontScheme name="GreenChe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Жасыл химияның 8-принципі: туындыларды азайту</dc:title>
  <dc:subject>PptxGenJS Presentation</dc:subject>
  <dc:creator>Жасыл химия</dc:creator>
  <cp:lastModifiedBy>Жасыл химия</cp:lastModifiedBy>
  <cp:revision>1</cp:revision>
  <dcterms:created xsi:type="dcterms:W3CDTF">2026-10-06T18:50:13Z</dcterms:created>
  <dcterms:modified xsi:type="dcterms:W3CDTF">2026-10-06T18:50:13Z</dcterms:modified>
</cp:coreProperties>
</file>